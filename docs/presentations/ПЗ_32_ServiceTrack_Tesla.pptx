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1379c63a3a4dbe" /><Relationship Type="http://schemas.openxmlformats.org/officeDocument/2006/relationships/extended-properties" Target="/docProps/app.xml" Id="R987ba3624fc442ec" /><Relationship Type="http://schemas.openxmlformats.org/officeDocument/2006/relationships/officeDocument" Target="/ppt/presentation.xml" Id="R8fdde2043f7442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9fe29e93b44c6"/>
  </p:sldMasterIdLst>
  <p:notesMasterIdLst>
    <p:notesMasterId xmlns:r="http://schemas.openxmlformats.org/officeDocument/2006/relationships" r:id="Rdc1c0a06f7894e94"/>
  </p:notesMasterIdLst>
  <p:sldIdLst>
    <p:sldId xmlns:r="http://schemas.openxmlformats.org/officeDocument/2006/relationships" id="256" r:id="R196198db1e994a17"/>
    <p:sldId xmlns:r="http://schemas.openxmlformats.org/officeDocument/2006/relationships" id="257" r:id="R3112c9b125aa46f6"/>
    <p:sldId xmlns:r="http://schemas.openxmlformats.org/officeDocument/2006/relationships" id="258" r:id="R61211355acc94de7"/>
    <p:sldId xmlns:r="http://schemas.openxmlformats.org/officeDocument/2006/relationships" id="259" r:id="R16be0c96b4ec47ec"/>
    <p:sldId xmlns:r="http://schemas.openxmlformats.org/officeDocument/2006/relationships" id="260" r:id="R3d0ff03abd05411f"/>
    <p:sldId xmlns:r="http://schemas.openxmlformats.org/officeDocument/2006/relationships" id="261" r:id="Rf148c2e5915e4e5a"/>
    <p:sldId xmlns:r="http://schemas.openxmlformats.org/officeDocument/2006/relationships" id="262" r:id="R182fc18cce2648c0"/>
    <p:sldId xmlns:r="http://schemas.openxmlformats.org/officeDocument/2006/relationships" id="263" r:id="R2a0b713da6cd47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c36e7983c4ff2" /><Relationship Type="http://schemas.openxmlformats.org/officeDocument/2006/relationships/slideMaster" Target="/ppt/slideMasters/slideMaster1.xml" Id="Rec79fe29e93b44c6" /><Relationship Type="http://schemas.openxmlformats.org/officeDocument/2006/relationships/notesMaster" Target="/ppt/notesMasters/notesMaster1.xml" Id="Rdc1c0a06f7894e94" /><Relationship Type="http://schemas.openxmlformats.org/officeDocument/2006/relationships/presProps" Target="/ppt/presProps.xml" Id="R47257d9652a94057" /><Relationship Type="http://schemas.openxmlformats.org/officeDocument/2006/relationships/tableStyles" Target="/ppt/tableStyles.xml" Id="Re6886ef33ee24986" /><Relationship Type="http://schemas.openxmlformats.org/officeDocument/2006/relationships/slide" Target="/ppt/slides/slide1.xml" Id="R196198db1e994a17" /><Relationship Type="http://schemas.openxmlformats.org/officeDocument/2006/relationships/slide" Target="/ppt/slides/slide2.xml" Id="R3112c9b125aa46f6" /><Relationship Type="http://schemas.openxmlformats.org/officeDocument/2006/relationships/slide" Target="/ppt/slides/slide3.xml" Id="R61211355acc94de7" /><Relationship Type="http://schemas.openxmlformats.org/officeDocument/2006/relationships/slide" Target="/ppt/slides/slide4.xml" Id="R16be0c96b4ec47ec" /><Relationship Type="http://schemas.openxmlformats.org/officeDocument/2006/relationships/slide" Target="/ppt/slides/slide5.xml" Id="R3d0ff03abd05411f" /><Relationship Type="http://schemas.openxmlformats.org/officeDocument/2006/relationships/slide" Target="/ppt/slides/slide6.xml" Id="Rf148c2e5915e4e5a" /><Relationship Type="http://schemas.openxmlformats.org/officeDocument/2006/relationships/slide" Target="/ppt/slides/slide7.xml" Id="R182fc18cce2648c0" /><Relationship Type="http://schemas.openxmlformats.org/officeDocument/2006/relationships/slide" Target="/ppt/slides/slide8.xml" Id="R2a0b713da6cd47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b6e811ffff45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32df647914a41" /><Relationship Type="http://schemas.openxmlformats.org/officeDocument/2006/relationships/notesMaster" Target="/ppt/notesMasters/notesMaster1.xml" Id="Rccf621e665354d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cdbe4b9cd40dd" /><Relationship Type="http://schemas.openxmlformats.org/officeDocument/2006/relationships/notesMaster" Target="/ppt/notesMasters/notesMaster1.xml" Id="R448c8dcdf2aa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8dc32c0b74c99" /><Relationship Type="http://schemas.openxmlformats.org/officeDocument/2006/relationships/notesMaster" Target="/ppt/notesMasters/notesMaster1.xml" Id="R0d32a8a03829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acaa0b7edd43a6" /><Relationship Type="http://schemas.openxmlformats.org/officeDocument/2006/relationships/notesMaster" Target="/ppt/notesMasters/notesMaster1.xml" Id="R5a9c36e25a974a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65c4189f6f4986" /><Relationship Type="http://schemas.openxmlformats.org/officeDocument/2006/relationships/notesMaster" Target="/ppt/notesMasters/notesMaster1.xml" Id="R359e21cc0f924e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92b29988a44160" /><Relationship Type="http://schemas.openxmlformats.org/officeDocument/2006/relationships/notesMaster" Target="/ppt/notesMasters/notesMaster1.xml" Id="Rd66cca7a8916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94767c88f740f3" /><Relationship Type="http://schemas.openxmlformats.org/officeDocument/2006/relationships/notesMaster" Target="/ppt/notesMasters/notesMaster1.xml" Id="Rce31618720d740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c99e3816a64c9e" /><Relationship Type="http://schemas.openxmlformats.org/officeDocument/2006/relationships/notesMaster" Target="/ppt/notesMasters/notesMaster1.xml" Id="R24e9723b513a41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Навчальна практика зі створення програмних продуктів, КН-42. Автор Філатов Олександр Юрійович. ServiceTrack — умовна навчальна компанія для презентації індивідуального проєкту, не зареєстрована організація. Проєкт незалежний від Tesla. Орієнтовний виступ до демонстрації — 5 хвилин.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Проєктна проблема: розрізнені записи можуть ускладнювати передачу інформації між адміністратором і механіком. Це гіпотеза з ПЗ6–8, не результат опитування. Пояснити, як одна картка поєднує авто, відповідального, строк і кошторис. Вигоди щодо економії часу ще не вимірювалися. Джерела: docs/06-personas.md,07-requirements.md,08-specification.md.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Порівняння взято з дослідження ПЗ5 від29.09.2026, а не нове дослідження тарифів. Orderry та Shopmonkey мають ширший сервісний процес. Google Sheets — непрямий аналог: облік і зв’язки налаштовуються вручну. Наш продукт не претендує на унікальність кожної функції; цінність — навчальна реалізація та пристосування до власної майстерні. Джерела: docs/05-market.md; https://orderry.com/auto-repair-shop-management-software-20148/ ; https://www.shopmonkey.io/product/estimates ; https://workspace.google.com/products/sheets/ ; https://support.google.com/a/users/answer/13309904?hl=en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Клієнт-серверний модульний моноліт з трьома логічними рівнями: представлення,бізнес-логіка,дані. API і сервіси працюють в одному Django-застосунку. Браузер передає HTTP/JSON; сервер перевіряє сесію,CSRF,роль та дані. Зміна статусу й запис події виконуються транзакційно. SQLite спрощує локальне демо; перед паралельною роботою потрібні перевірка конфліктів і оцінка PostgreSQL. Джерела: docs/09-architecture.md,10-stack.md,29-technical.md.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Живий сценарій: створити клієнта й авто з унікальним валідним VIN,створити замовлення,увійти механіком,записати діагностику,повернутися адміністратором,додати1.5×1000грн,пройти до готовності,видати,відкрити історію. Орієнтир6–7хвилин окремо від слайдів. Скриншот показує вже завершений сценарій ПЗ30; ST-0005 не редагується після видачі. Для живого показу створити новий запис в окремій демонстраційній базі. Тільки вигадані дані. Джерело: docs/30-final-check.md,images/pz30-delivered.png.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Зафіксовані результати29.09.2026,версіяbed0f2f.32серверні та22клієнтські тести;API-контракт26успішних операцій і10негативних сценаріїв. Це різні набори,не додавати їх як унікальні функції. IABChromium,SafariWebKit і емуляція390×844. ВиправленоBUG005старіdemoVIN,BUG006повторневідкриття,BUG007повідомлення,BUG008відмінювання. Issues залишаються відкритими до злиття. ДобровольчийUAT та незалежне людськеreview не проведені. Джерела: docs/30-final-check.md,verification/pz30-api.json,verification/pz30-checks.md.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Спочатку підтвердити придатність з реальними користувачами,завершити незалежнеreview і перевірити крайові випадки. Після цього готувати захищене розгортання,резервування й відновлення. Фото несправностей,сповіщення й склад — можливі розширення,а не реалізовані функції. TeslaAPI/Toolbox і автоматична діагностика не входять до MVP. Джерела: docs/22-requirements-audit.md,28-uat-plan.md,29-technical.md,30-final-check.md.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Контактний канал — публічний GitHub профіль автора й репозиторій проєкту. Особистий телефон та email не додавалися. Зауваження можна передати через GitHub Issues без клієнтських даних. Репозиторій: https://github.com/s6a6t6anfil-create/servicetrack-tesla . Умовна навчальна компанія ServiceTrack; продукт не є офіційним продуктомTesla.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5390e83e8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0985d87f1d4ae3" /><Relationship Type="http://schemas.openxmlformats.org/officeDocument/2006/relationships/slideLayout" Target="/ppt/slideLayouts/slideLayout1.xml" Id="R32549cc6852f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49cc6852f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adfc0c5644fcf" /><Relationship Type="http://schemas.openxmlformats.org/officeDocument/2006/relationships/notesSlide" Target="/ppt/notesSlides/notesSlide1.xml" Id="R813e6757f9ef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72288515d4f23" /><Relationship Type="http://schemas.openxmlformats.org/officeDocument/2006/relationships/notesSlide" Target="/ppt/notesSlides/notesSlide2.xml" Id="Rccf95c6b889a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fda6b65e143e5" /><Relationship Type="http://schemas.openxmlformats.org/officeDocument/2006/relationships/notesSlide" Target="/ppt/notesSlides/notesSlide3.xml" Id="R24c7db79f5d248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de554283243a2" /><Relationship Type="http://schemas.openxmlformats.org/officeDocument/2006/relationships/notesSlide" Target="/ppt/notesSlides/notesSlide4.xml" Id="Ra4d40f679a9944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e27d510254cdc" /><Relationship Type="http://schemas.openxmlformats.org/officeDocument/2006/relationships/image" Target="/ppt/media/image.jpeg" Id="R59483174639f4718" /><Relationship Type="http://schemas.openxmlformats.org/officeDocument/2006/relationships/notesSlide" Target="/ppt/notesSlides/notesSlide5.xml" Id="R3354ba9a681d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fd4b739534e3e" /><Relationship Type="http://schemas.openxmlformats.org/officeDocument/2006/relationships/notesSlide" Target="/ppt/notesSlides/notesSlide6.xml" Id="R48f0c24c0efe4d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79b52bbf34b55" /><Relationship Type="http://schemas.openxmlformats.org/officeDocument/2006/relationships/notesSlide" Target="/ppt/notesSlides/notesSlide7.xml" Id="Rc8f33863a29d43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9c35c09d549fe" /><Relationship Type="http://schemas.openxmlformats.org/officeDocument/2006/relationships/notesSlide" Target="/ppt/notesSlides/notesSlide8.xml" Id="R1061151c48e6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8C49B-61C8-4836-BC95-C06608C3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ServiceTrack Tesla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4B988-5F0D-45A2-8A27-C3C9CA0D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AD0BF-BBA6-4468-B637-25BB4E79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Облік ремонтів незалежної</a:t>
            </a:r>
          </a:p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майстерні електромобілів Tesla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29EBD-1573-42C1-9CE1-CC93A28E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rPr>
              <a:t>Навчальна компанія «ServiceTrack»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0C017-42AF-4EC4-8BBE-5778A6EC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Філатов Олександр Юрійович · КН-42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A6888-0C89-4B6A-8F29-881B9496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rPr>
              <a:t>Навчальна практика · 2026</a:t>
            </a:r>
          </a:p>
        </p:txBody>
      </p:sp>
    </p:spTree>
    <p:extLst>
      <p:ext uri="{BB962C8B-B14F-4D97-AF65-F5344CB8AC3E}">
        <p14:creationId xmlns:p14="http://schemas.microsoft.com/office/powerpoint/2010/main" val="1625550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D2566-F662-41E3-8AFC-A4AE9DF7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Проблема й рішення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51C0F-4958-49FC-9992-C45A323F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63E7A-5A0E-4978-8AE6-4ECB2C51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A108F-2C41-40FD-8167-AC168731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490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Ремонт ведуть у різних записах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B59F-FD61-409D-89AF-136D549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губляться пояснення механіка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складно контролювати строки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кошторис відокремлений від робіт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CC37-18C9-4DB6-8FCA-7171D7C6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РІШЕННЯ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23756-9691-4BA5-8A6D-B8571F22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Єдина картка замовлення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0C6C3-1CC0-454A-BCC8-D64C4407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6707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клієнт, авто й відповідальний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сім статусів та історія змін</a:t>
            </a:r>
          </a:p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роботи, деталі й сума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25882-9E5F-4236-B818-674215CE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Проєктна гіпотеза: зручність потрібно підтвердити з користувачами</a:t>
            </a:r>
          </a:p>
        </p:txBody>
      </p:sp>
    </p:spTree>
    <p:extLst>
      <p:ext uri="{BB962C8B-B14F-4D97-AF65-F5344CB8AC3E}">
        <p14:creationId xmlns:p14="http://schemas.microsoft.com/office/powerpoint/2010/main" val="9508512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1781C-A874-41FC-9199-5F453DD4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Аналоги та межі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8C33A-DFDD-49DD-ABE1-1E2E095D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2286000"/>
                <a:gridCol w="1762125"/>
                <a:gridCol w="2238375"/>
                <a:gridCol w="19050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Функція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ServiceTrack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Orderry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Shopmonkey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Sheets</a:t>
                      </a:r>
                    </a:p>
                  </a:txBody>
                  <a:tcPr marL="91440" marR="91440" marT="45720" marB="45720">
                    <a:solidFill>
                      <a:srgbClr val="18383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Замовлення й авто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Вручну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Кошторис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Формули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Історія ремонту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Вручну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Складський облік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Ні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Вручну</a:t>
                      </a:r>
                    </a:p>
                  </a:txBody>
                  <a:tcPr marL="91440" marR="91440" marT="45720" marB="45720">
                    <a:solidFill>
                      <a:srgbClr val="E8EEE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Онлайн-оплата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Так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8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 підтв.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03105-4504-4F87-90A7-DDCB5A2B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Власний код і вузький процес однієї майстерні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4D1B9-E8C4-42B1-9B39-8BC91F3B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ПЗ5 · 29.09.2026. «Не підтв.» — джерело не підтверджує функцію</a:t>
            </a:r>
          </a:p>
        </p:txBody>
      </p:sp>
    </p:spTree>
    <p:extLst>
      <p:ext uri="{BB962C8B-B14F-4D97-AF65-F5344CB8AC3E}">
        <p14:creationId xmlns:p14="http://schemas.microsoft.com/office/powerpoint/2010/main" val="146494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AF67B-6180-4F86-B18B-8114CCC1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Архітектура й технології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15425-0344-40DB-9A9D-F674EAE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D543A-EB03-4D66-836E-7C762A94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7"/>
          </a:solidFill>
          <a:ln xmlns:a="http://schemas.openxmlformats.org/drawingml/2006/main" w="19050">
            <a:solidFill>
              <a:srgbClr val="166B6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6759A-3DE7-4B36-836D-8D98CDC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Браузер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FAF5B-AC88-4FD9-A08F-280BAF1B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HTML · CSS · JavaScript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80276-2D23-498A-9356-8A2B9BBB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76500"/>
            <a:ext cx="447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58956-7DCC-43A9-AEE5-177A74E7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7"/>
          </a:solidFill>
          <a:ln xmlns:a="http://schemas.openxmlformats.org/drawingml/2006/main" w="19050">
            <a:solidFill>
              <a:srgbClr val="166B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04F21-CB0E-4C8C-8E42-D72BA6A4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86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Django + DRF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CB652-0A97-4B07-B669-9A5A3EA8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52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API · ролі · бізнес-правила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838D1-2867-48AD-9DAE-1C4CC5F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76500"/>
            <a:ext cx="447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482AC-7036-426E-929E-F88667E9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7"/>
          </a:solidFill>
          <a:ln xmlns:a="http://schemas.openxmlformats.org/drawingml/2006/main" w="19050">
            <a:solidFill>
              <a:srgbClr val="166B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CD295-5777-4074-AAE5-E86BA148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7083A-737D-4990-9AB7-46FC5256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Дані ремонтів та історія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20344-25BF-4005-B47F-CB6B1F1F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Моноліт: простий запуск і узгоджені зміни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B94E5-F9A5-40F9-982E-61F78512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Django — автентифікація та ORM; DRF — перевірка API</a:t>
            </a:r>
          </a:p>
          <a:p xmlns:a="http://schemas.openxmlformats.org/drawingml/2006/main">
            <a:pPr>
              <a:def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SQLite — локальний MVP; JavaScript — робота без перезавантажень</a:t>
            </a:r>
          </a:p>
        </p:txBody>
      </p:sp>
    </p:spTree>
    <p:extLst>
      <p:ext uri="{BB962C8B-B14F-4D97-AF65-F5344CB8AC3E}">
        <p14:creationId xmlns:p14="http://schemas.microsoft.com/office/powerpoint/2010/main" val="1474575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A4111-38BC-4434-87DE-5A994A07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Демонстрація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C81B8-E82B-4163-8E75-E83792E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83174639f4718"/>
          <a:stretch xmlns:a="http://schemas.openxmlformats.org/drawingml/2006/main"/>
        </p:blipFill>
        <p:spPr>
          <a:xfrm xmlns:a="http://schemas.openxmlformats.org/drawingml/2006/main">
            <a:off x="4714875" y="1649909"/>
            <a:ext cx="6867525" cy="386298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80B90-7CDD-42D2-80FD-549723B9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895725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01  Приймання авто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02  Діагностика механіка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03  Кошторис і ремонт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04  Видача та історія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4001A-BE33-46B8-8F06-8B99DB64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76262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Перевірений приклад: 1,50 × 1000 = 1500 грн</a:t>
            </a:r>
          </a:p>
        </p:txBody>
      </p:sp>
    </p:spTree>
    <p:extLst>
      <p:ext uri="{BB962C8B-B14F-4D97-AF65-F5344CB8AC3E}">
        <p14:creationId xmlns:p14="http://schemas.microsoft.com/office/powerpoint/2010/main" val="19587866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17A5D-0B27-41FB-AF4D-20835DCE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Результати перевірки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8ABE-3B49-4F31-9A55-2F4AE58B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43DD4-BED4-4B84-838B-ADE99AAA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5FCAE-1C56-4BF2-A46F-590CFDE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серверні тести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2FCFC-D764-4482-9E19-A5E5AB62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27F1A-AA0C-4441-ABEC-2AAC23AD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3367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клієнтські тести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6E9CE-7EF1-4F21-BF0A-33DEFA0B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26 успішних API-операцій + 10 негативних сценаріїв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076D3-27EC-4585-BE6B-C23BA549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4 виправлені дефекти · Chromium і Safari · екран 390 × 844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F4D0E-3190-4DCF-B09C-1080FD44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Реальний UAT і незалежне людське review ще не проведені</a:t>
            </a:r>
          </a:p>
        </p:txBody>
      </p:sp>
    </p:spTree>
    <p:extLst>
      <p:ext uri="{BB962C8B-B14F-4D97-AF65-F5344CB8AC3E}">
        <p14:creationId xmlns:p14="http://schemas.microsoft.com/office/powerpoint/2010/main" val="7723233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039DC-E976-4200-9636-3739EFE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Подальший розвиток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33305-FC3B-42BA-A924-0963BDC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626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64211-0179-4433-945C-989D82F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Перед використанням у майстерні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43D12-B5C2-4AB0-8378-032AA9FD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UAT з адміністратором і механіком</a:t>
            </a:r>
          </a:p>
          <a:p xmlns:a="http://schemas.openxmlformats.org/drawingml/2006/main">
            <a:pPr>
              <a:def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незалежний перегляд коду та крайові випадки</a:t>
            </a:r>
          </a:p>
          <a:p xmlns:a="http://schemas.openxmlformats.org/drawingml/2006/main">
            <a:pPr>
              <a:def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• HTTPS, резервні копії й перевірка відновлення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EC925-206C-47C1-BFD4-68A2DC61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6B61"/>
                </a:solidFill>
                <a:latin typeface="Helvetica Neue"/>
                <a:ea typeface="Helvetica Neue"/>
                <a:cs typeface="Helvetica Neue"/>
              </a:rPr>
              <a:t>Після перевірки потреб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319E8-7AB3-473C-ACC0-9C0811E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3A"/>
                </a:solidFill>
                <a:latin typeface="Helvetica Neue"/>
                <a:ea typeface="Helvetica Neue"/>
                <a:cs typeface="Helvetica Neue"/>
              </a:rPr>
              <a:t>Фото до замовлень · сповіщення · складський облік</a:t>
            </a:r>
          </a:p>
        </p:txBody>
      </p:sp>
    </p:spTree>
    <p:extLst>
      <p:ext uri="{BB962C8B-B14F-4D97-AF65-F5344CB8AC3E}">
        <p14:creationId xmlns:p14="http://schemas.microsoft.com/office/powerpoint/2010/main" val="1407133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E2CFB-2673-4943-940E-B87482FD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Дякую за увагу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89168-0750-4B9C-A31C-EDA463D5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CD4C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ABC62-9D38-4A0D-A8D8-CD8762F0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Філатов Олександр Юрійович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85ED7-481B-48A0-B9DD-09A3CD48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9D0C7"/>
                </a:solidFill>
                <a:latin typeface="Helvetica Neue"/>
                <a:ea typeface="Helvetica Neue"/>
                <a:cs typeface="Helvetica Neue"/>
              </a:rPr>
              <a:t>КН-42 · ServiceTrack Tesla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1B6F8-0295-466B-B466-735D314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GitHub: s6a6t6anfil-create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042B9-8A94-46C9-B13A-F1CA9748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github.com/s6a6t6anfil-create/servicetrack-tesla</a:t>
            </a:r>
          </a:p>
        </p:txBody>
      </p:sp>
    </p:spTree>
    <p:extLst>
      <p:ext uri="{BB962C8B-B14F-4D97-AF65-F5344CB8AC3E}">
        <p14:creationId xmlns:p14="http://schemas.microsoft.com/office/powerpoint/2010/main" val="1930541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2026-09-29T21:35:39.0850000Z</dcterms:created>
  <dcterms:modified xsi:type="dcterms:W3CDTF">2026-09-29T21:35:39.0850000Z</dcterms:modified>
</coreProperties>
</file>